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eb3e2fa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eb3e2fa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eb3e2fa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eb3e2fa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1eb3e2fa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1eb3e2fa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eb3e2fa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eb3e2fa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1eb3e2fa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1eb3e2fa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1eb3e2fa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1eb3e2fa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1eb3e2fa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1eb3e2fa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1eb3e2fa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1eb3e2fa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1eb3e2fa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1eb3e2fa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1eb3e2fa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1eb3e2fa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eb3e2fa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1eb3e2fa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eb3e2fa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1eb3e2fa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1eb3e2fa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1eb3e2fa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1eb3e2fa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1eb3e2fa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eb3e2fa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1eb3e2fa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zWQgTWs-trJbP4ams1WlxBhKqsIVMWCE/view" TargetMode="External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spark.apache.org/sql" TargetMode="External"/><Relationship Id="rId10" Type="http://schemas.openxmlformats.org/officeDocument/2006/relationships/hyperlink" Target="https://spark.apache.org/sql" TargetMode="External"/><Relationship Id="rId13" Type="http://schemas.openxmlformats.org/officeDocument/2006/relationships/hyperlink" Target="https://www.who.int/teams/social-determinants-of-health" TargetMode="External"/><Relationship Id="rId12" Type="http://schemas.openxmlformats.org/officeDocument/2006/relationships/hyperlink" Target="https://www.who.int/teams/social-determinants-of-health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hdx.healthdata.org" TargetMode="External"/><Relationship Id="rId4" Type="http://schemas.openxmlformats.org/officeDocument/2006/relationships/hyperlink" Target="https://ghdx.healthdata.org" TargetMode="External"/><Relationship Id="rId9" Type="http://schemas.openxmlformats.org/officeDocument/2006/relationships/hyperlink" Target="https://spark.apache.org/sql" TargetMode="External"/><Relationship Id="rId14" Type="http://schemas.openxmlformats.org/officeDocument/2006/relationships/hyperlink" Target="https://www.who.int/teams/social-determinants-of-health" TargetMode="External"/><Relationship Id="rId5" Type="http://schemas.openxmlformats.org/officeDocument/2006/relationships/hyperlink" Target="https://ghdx.healthdata.org" TargetMode="External"/><Relationship Id="rId6" Type="http://schemas.openxmlformats.org/officeDocument/2006/relationships/hyperlink" Target="https://learn.microsoft.com/azure/databricks" TargetMode="External"/><Relationship Id="rId7" Type="http://schemas.openxmlformats.org/officeDocument/2006/relationships/hyperlink" Target="https://learn.microsoft.com/azure/databricks" TargetMode="External"/><Relationship Id="rId8" Type="http://schemas.openxmlformats.org/officeDocument/2006/relationships/hyperlink" Target="https://learn.microsoft.com/azure/databric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381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600"/>
              <a:t>Analysis of Mortality Rate by Education Level, Age Group, and Location Using Azure Databricks</a:t>
            </a:r>
            <a:endParaRPr b="1" sz="26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/>
              <a:t>Module:</a:t>
            </a:r>
            <a:r>
              <a:rPr lang="en-GB" sz="1800"/>
              <a:t> COM745 – Big Data and Infrastructure</a:t>
            </a:r>
            <a:br>
              <a:rPr lang="en-GB" sz="1800"/>
            </a:br>
            <a:r>
              <a:rPr lang="en-GB" sz="1800"/>
              <a:t> </a:t>
            </a:r>
            <a:r>
              <a:rPr b="1" lang="en-GB" sz="1800"/>
              <a:t>Student Name:</a:t>
            </a:r>
            <a:r>
              <a:rPr lang="en-GB" sz="1800"/>
              <a:t> Aprem George</a:t>
            </a:r>
            <a:br>
              <a:rPr lang="en-GB" sz="1800"/>
            </a:br>
            <a:r>
              <a:rPr lang="en-GB" sz="1800"/>
              <a:t> </a:t>
            </a:r>
            <a:r>
              <a:rPr b="1" lang="en-GB" sz="1800"/>
              <a:t>Student ID:</a:t>
            </a:r>
            <a:r>
              <a:rPr lang="en-GB" sz="1800"/>
              <a:t> B01012093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&amp; Background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368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4">
                <a:solidFill>
                  <a:schemeClr val="dk1"/>
                </a:solidFill>
              </a:rPr>
              <a:t>Educational attainment is widely recognised as a social determinant of health.</a:t>
            </a:r>
            <a:br>
              <a:rPr lang="en-GB" sz="2434">
                <a:solidFill>
                  <a:schemeClr val="dk1"/>
                </a:solidFill>
              </a:rPr>
            </a:br>
            <a:endParaRPr sz="2434">
              <a:solidFill>
                <a:schemeClr val="dk1"/>
              </a:solidFill>
            </a:endParaRPr>
          </a:p>
          <a:p>
            <a:pPr indent="-3368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4">
                <a:solidFill>
                  <a:schemeClr val="dk1"/>
                </a:solidFill>
              </a:rPr>
              <a:t>Mortality rates often vary significantly across education levels, age groups, and geographic regions.</a:t>
            </a:r>
            <a:br>
              <a:rPr lang="en-GB" sz="2434">
                <a:solidFill>
                  <a:schemeClr val="dk1"/>
                </a:solidFill>
              </a:rPr>
            </a:br>
            <a:endParaRPr sz="2434">
              <a:solidFill>
                <a:schemeClr val="dk1"/>
              </a:solidFill>
            </a:endParaRPr>
          </a:p>
          <a:p>
            <a:pPr indent="-3368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4">
                <a:solidFill>
                  <a:schemeClr val="dk1"/>
                </a:solidFill>
              </a:rPr>
              <a:t>Understanding these patterns at scale requires big data storage and distributed analytics.</a:t>
            </a:r>
            <a:br>
              <a:rPr lang="en-GB" sz="2434">
                <a:solidFill>
                  <a:schemeClr val="dk1"/>
                </a:solidFill>
              </a:rPr>
            </a:b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178"/>
              <a:buFont typeface="Arial"/>
              <a:buNone/>
            </a:pPr>
            <a:r>
              <a:rPr b="1" lang="en-GB" sz="2434">
                <a:solidFill>
                  <a:schemeClr val="dk1"/>
                </a:solidFill>
              </a:rPr>
              <a:t>Problem Statement:</a:t>
            </a:r>
            <a:br>
              <a:rPr b="1" lang="en-GB" sz="2434">
                <a:solidFill>
                  <a:schemeClr val="dk1"/>
                </a:solidFill>
              </a:rPr>
            </a:br>
            <a:r>
              <a:rPr lang="en-GB" sz="2434">
                <a:solidFill>
                  <a:schemeClr val="dk1"/>
                </a:solidFill>
              </a:rPr>
              <a:t> To analyse how mortality rates vary by </a:t>
            </a:r>
            <a:r>
              <a:rPr b="1" lang="en-GB" sz="2434">
                <a:solidFill>
                  <a:schemeClr val="dk1"/>
                </a:solidFill>
              </a:rPr>
              <a:t>education level</a:t>
            </a:r>
            <a:r>
              <a:rPr lang="en-GB" sz="2434">
                <a:solidFill>
                  <a:schemeClr val="dk1"/>
                </a:solidFill>
              </a:rPr>
              <a:t>, </a:t>
            </a:r>
            <a:r>
              <a:rPr b="1" lang="en-GB" sz="2434">
                <a:solidFill>
                  <a:schemeClr val="dk1"/>
                </a:solidFill>
              </a:rPr>
              <a:t>age group</a:t>
            </a:r>
            <a:r>
              <a:rPr lang="en-GB" sz="2434">
                <a:solidFill>
                  <a:schemeClr val="dk1"/>
                </a:solidFill>
              </a:rPr>
              <a:t>, and </a:t>
            </a:r>
            <a:r>
              <a:rPr b="1" lang="en-GB" sz="2434">
                <a:solidFill>
                  <a:schemeClr val="dk1"/>
                </a:solidFill>
              </a:rPr>
              <a:t>county-level location</a:t>
            </a:r>
            <a:r>
              <a:rPr lang="en-GB" sz="2434">
                <a:solidFill>
                  <a:schemeClr val="dk1"/>
                </a:solidFill>
              </a:rPr>
              <a:t>, and how these patterns changed between </a:t>
            </a:r>
            <a:r>
              <a:rPr b="1" lang="en-GB" sz="2434">
                <a:solidFill>
                  <a:schemeClr val="dk1"/>
                </a:solidFill>
              </a:rPr>
              <a:t>2018 and 2019</a:t>
            </a:r>
            <a:r>
              <a:rPr lang="en-GB" sz="2434">
                <a:solidFill>
                  <a:schemeClr val="dk1"/>
                </a:solidFill>
              </a:rPr>
              <a:t>.</a:t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Selection &amp; Relevance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0366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4728">
                <a:solidFill>
                  <a:schemeClr val="dk1"/>
                </a:solidFill>
              </a:rPr>
              <a:t>Source:</a:t>
            </a:r>
            <a:r>
              <a:rPr lang="en-GB" sz="4728">
                <a:solidFill>
                  <a:schemeClr val="dk1"/>
                </a:solidFill>
              </a:rPr>
              <a:t> Institute for Health Metrics and Evaluation (IHME) (https://ghdx.healthdata.org/record/ihme-data/us-le-county-education-2000-2019)</a:t>
            </a:r>
            <a:br>
              <a:rPr lang="en-GB" sz="4728">
                <a:solidFill>
                  <a:schemeClr val="dk1"/>
                </a:solidFill>
              </a:rPr>
            </a:br>
            <a:endParaRPr sz="4728">
              <a:solidFill>
                <a:schemeClr val="dk1"/>
              </a:solidFill>
            </a:endParaRPr>
          </a:p>
          <a:p>
            <a:pPr indent="-30366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4728">
                <a:solidFill>
                  <a:schemeClr val="dk1"/>
                </a:solidFill>
              </a:rPr>
              <a:t>Geography:</a:t>
            </a:r>
            <a:r>
              <a:rPr lang="en-GB" sz="4728">
                <a:solidFill>
                  <a:schemeClr val="dk1"/>
                </a:solidFill>
              </a:rPr>
              <a:t> United States (county level)</a:t>
            </a:r>
            <a:br>
              <a:rPr lang="en-GB" sz="4728">
                <a:solidFill>
                  <a:schemeClr val="dk1"/>
                </a:solidFill>
              </a:rPr>
            </a:br>
            <a:endParaRPr sz="4728">
              <a:solidFill>
                <a:schemeClr val="dk1"/>
              </a:solidFill>
            </a:endParaRPr>
          </a:p>
          <a:p>
            <a:pPr indent="-30366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4728">
                <a:solidFill>
                  <a:schemeClr val="dk1"/>
                </a:solidFill>
              </a:rPr>
              <a:t>Years Used:</a:t>
            </a:r>
            <a:r>
              <a:rPr lang="en-GB" sz="4728">
                <a:solidFill>
                  <a:schemeClr val="dk1"/>
                </a:solidFill>
              </a:rPr>
              <a:t> 2018 and 2019</a:t>
            </a:r>
            <a:br>
              <a:rPr lang="en-GB" sz="4728">
                <a:solidFill>
                  <a:schemeClr val="dk1"/>
                </a:solidFill>
              </a:rPr>
            </a:br>
            <a:endParaRPr sz="4728">
              <a:solidFill>
                <a:schemeClr val="dk1"/>
              </a:solidFill>
            </a:endParaRPr>
          </a:p>
          <a:p>
            <a:pPr indent="-30366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4728">
                <a:solidFill>
                  <a:schemeClr val="dk1"/>
                </a:solidFill>
              </a:rPr>
              <a:t>Population Stratification:</a:t>
            </a:r>
            <a:br>
              <a:rPr b="1" lang="en-GB" sz="4728">
                <a:solidFill>
                  <a:schemeClr val="dk1"/>
                </a:solidFill>
              </a:rPr>
            </a:br>
            <a:endParaRPr b="1" sz="4728">
              <a:solidFill>
                <a:schemeClr val="dk1"/>
              </a:solidFill>
            </a:endParaRPr>
          </a:p>
          <a:p>
            <a:pPr indent="-30366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728">
                <a:solidFill>
                  <a:schemeClr val="dk1"/>
                </a:solidFill>
              </a:rPr>
              <a:t>Education level</a:t>
            </a:r>
            <a:br>
              <a:rPr lang="en-GB" sz="4728">
                <a:solidFill>
                  <a:schemeClr val="dk1"/>
                </a:solidFill>
              </a:rPr>
            </a:br>
            <a:endParaRPr sz="4728">
              <a:solidFill>
                <a:schemeClr val="dk1"/>
              </a:solidFill>
            </a:endParaRPr>
          </a:p>
          <a:p>
            <a:pPr indent="-30366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728">
                <a:solidFill>
                  <a:schemeClr val="dk1"/>
                </a:solidFill>
              </a:rPr>
              <a:t>Age group</a:t>
            </a:r>
            <a:br>
              <a:rPr lang="en-GB" sz="4728">
                <a:solidFill>
                  <a:schemeClr val="dk1"/>
                </a:solidFill>
              </a:rPr>
            </a:br>
            <a:endParaRPr sz="4728">
              <a:solidFill>
                <a:schemeClr val="dk1"/>
              </a:solidFill>
            </a:endParaRPr>
          </a:p>
          <a:p>
            <a:pPr indent="-30366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728">
                <a:solidFill>
                  <a:schemeClr val="dk1"/>
                </a:solidFill>
              </a:rPr>
              <a:t>Location (county)</a:t>
            </a:r>
            <a:br>
              <a:rPr lang="en-GB" sz="4728">
                <a:solidFill>
                  <a:schemeClr val="dk1"/>
                </a:solidFill>
              </a:rPr>
            </a:br>
            <a:endParaRPr sz="472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4728">
                <a:solidFill>
                  <a:schemeClr val="dk1"/>
                </a:solidFill>
              </a:rPr>
              <a:t>Why this dataset?</a:t>
            </a:r>
            <a:endParaRPr b="1" sz="4728">
              <a:solidFill>
                <a:schemeClr val="dk1"/>
              </a:solidFill>
            </a:endParaRPr>
          </a:p>
          <a:p>
            <a:pPr indent="-30366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4728">
                <a:solidFill>
                  <a:schemeClr val="dk1"/>
                </a:solidFill>
              </a:rPr>
              <a:t>Large-scale, longitudinal public health data</a:t>
            </a:r>
            <a:br>
              <a:rPr lang="en-GB" sz="4728">
                <a:solidFill>
                  <a:schemeClr val="dk1"/>
                </a:solidFill>
              </a:rPr>
            </a:br>
            <a:endParaRPr sz="4728">
              <a:solidFill>
                <a:schemeClr val="dk1"/>
              </a:solidFill>
            </a:endParaRPr>
          </a:p>
          <a:p>
            <a:pPr indent="-30366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4728">
                <a:solidFill>
                  <a:schemeClr val="dk1"/>
                </a:solidFill>
              </a:rPr>
              <a:t>Includes uncertainty bounds (</a:t>
            </a:r>
            <a:r>
              <a:rPr lang="en-GB" sz="472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lower</a:t>
            </a:r>
            <a:r>
              <a:rPr lang="en-GB" sz="4728">
                <a:solidFill>
                  <a:schemeClr val="dk1"/>
                </a:solidFill>
              </a:rPr>
              <a:t>, </a:t>
            </a:r>
            <a:r>
              <a:rPr lang="en-GB" sz="472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upper</a:t>
            </a:r>
            <a:r>
              <a:rPr lang="en-GB" sz="4728">
                <a:solidFill>
                  <a:schemeClr val="dk1"/>
                </a:solidFill>
              </a:rPr>
              <a:t>)</a:t>
            </a:r>
            <a:br>
              <a:rPr lang="en-GB" sz="4728">
                <a:solidFill>
                  <a:schemeClr val="dk1"/>
                </a:solidFill>
              </a:rPr>
            </a:br>
            <a:endParaRPr sz="4728">
              <a:solidFill>
                <a:schemeClr val="dk1"/>
              </a:solidFill>
            </a:endParaRPr>
          </a:p>
          <a:p>
            <a:pPr indent="-30366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4728">
                <a:solidFill>
                  <a:schemeClr val="dk1"/>
                </a:solidFill>
              </a:rPr>
              <a:t>Suitable for multi-dimensional analysis in a data lake</a:t>
            </a:r>
            <a:endParaRPr sz="472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Analytical Objectives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3963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797">
                <a:solidFill>
                  <a:schemeClr val="dk1"/>
                </a:solidFill>
              </a:rPr>
              <a:t>Examine the </a:t>
            </a:r>
            <a:r>
              <a:rPr b="1" lang="en-GB" sz="2797">
                <a:solidFill>
                  <a:schemeClr val="dk1"/>
                </a:solidFill>
              </a:rPr>
              <a:t>education gradient</a:t>
            </a:r>
            <a:r>
              <a:rPr lang="en-GB" sz="2797">
                <a:solidFill>
                  <a:schemeClr val="dk1"/>
                </a:solidFill>
              </a:rPr>
              <a:t> in mortality rates</a:t>
            </a:r>
            <a:br>
              <a:rPr lang="en-GB" sz="2797">
                <a:solidFill>
                  <a:schemeClr val="dk1"/>
                </a:solidFill>
              </a:rPr>
            </a:br>
            <a:endParaRPr sz="2797">
              <a:solidFill>
                <a:schemeClr val="dk1"/>
              </a:solidFill>
            </a:endParaRPr>
          </a:p>
          <a:p>
            <a:pPr indent="-33963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797">
                <a:solidFill>
                  <a:schemeClr val="dk1"/>
                </a:solidFill>
              </a:rPr>
              <a:t>Compare changes between </a:t>
            </a:r>
            <a:r>
              <a:rPr b="1" lang="en-GB" sz="2797">
                <a:solidFill>
                  <a:schemeClr val="dk1"/>
                </a:solidFill>
              </a:rPr>
              <a:t>2018 and 2019</a:t>
            </a:r>
            <a:br>
              <a:rPr b="1" lang="en-GB" sz="2797">
                <a:solidFill>
                  <a:schemeClr val="dk1"/>
                </a:solidFill>
              </a:rPr>
            </a:br>
            <a:endParaRPr b="1" sz="2797">
              <a:solidFill>
                <a:schemeClr val="dk1"/>
              </a:solidFill>
            </a:endParaRPr>
          </a:p>
          <a:p>
            <a:pPr indent="-33963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797">
                <a:solidFill>
                  <a:schemeClr val="dk1"/>
                </a:solidFill>
              </a:rPr>
              <a:t>Identify </a:t>
            </a:r>
            <a:r>
              <a:rPr b="1" lang="en-GB" sz="2797">
                <a:solidFill>
                  <a:schemeClr val="dk1"/>
                </a:solidFill>
              </a:rPr>
              <a:t>age–education interactions</a:t>
            </a:r>
            <a:br>
              <a:rPr b="1" lang="en-GB" sz="2797">
                <a:solidFill>
                  <a:schemeClr val="dk1"/>
                </a:solidFill>
              </a:rPr>
            </a:br>
            <a:endParaRPr b="1" sz="2797">
              <a:solidFill>
                <a:schemeClr val="dk1"/>
              </a:solidFill>
            </a:endParaRPr>
          </a:p>
          <a:p>
            <a:pPr indent="-33963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797">
                <a:solidFill>
                  <a:schemeClr val="dk1"/>
                </a:solidFill>
              </a:rPr>
              <a:t>Highlight </a:t>
            </a:r>
            <a:r>
              <a:rPr b="1" lang="en-GB" sz="2797">
                <a:solidFill>
                  <a:schemeClr val="dk1"/>
                </a:solidFill>
              </a:rPr>
              <a:t>geographic inequalities</a:t>
            </a:r>
            <a:r>
              <a:rPr lang="en-GB" sz="2797">
                <a:solidFill>
                  <a:schemeClr val="dk1"/>
                </a:solidFill>
              </a:rPr>
              <a:t> in mortality outcomes</a:t>
            </a:r>
            <a:br>
              <a:rPr lang="en-GB" sz="2797">
                <a:solidFill>
                  <a:schemeClr val="dk1"/>
                </a:solidFill>
              </a:rPr>
            </a:br>
            <a:endParaRPr sz="2797">
              <a:solidFill>
                <a:schemeClr val="dk1"/>
              </a:solidFill>
            </a:endParaRPr>
          </a:p>
          <a:p>
            <a:pPr indent="-33963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797">
                <a:solidFill>
                  <a:schemeClr val="dk1"/>
                </a:solidFill>
              </a:rPr>
              <a:t>Demonstrate use of </a:t>
            </a:r>
            <a:r>
              <a:rPr b="1" lang="en-GB" sz="2797">
                <a:solidFill>
                  <a:schemeClr val="dk1"/>
                </a:solidFill>
              </a:rPr>
              <a:t>big data infrastructure</a:t>
            </a:r>
            <a:r>
              <a:rPr lang="en-GB" sz="2797">
                <a:solidFill>
                  <a:schemeClr val="dk1"/>
                </a:solidFill>
              </a:rPr>
              <a:t> rather than traditional databases</a:t>
            </a:r>
            <a:endParaRPr sz="279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Overall System Architecture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Azure Databricks workspace deployed on Microsoft Azure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Spark-based distributed processing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Lakehouse architecture: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Bronze → Silver → Gold layers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SQL + PySpark used for analytics and visualisation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Why Databricks?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Scalability for large datasets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Integrated analytics, storage, and visualisation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Supports structured lakehouse workflows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Ingestion (Bronze Layer)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837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33">
                <a:solidFill>
                  <a:schemeClr val="dk1"/>
                </a:solidFill>
              </a:rPr>
              <a:t>Raw IHME CSV datasets for </a:t>
            </a:r>
            <a:r>
              <a:rPr b="1" lang="en-GB" sz="2033">
                <a:solidFill>
                  <a:schemeClr val="dk1"/>
                </a:solidFill>
              </a:rPr>
              <a:t>2018</a:t>
            </a:r>
            <a:r>
              <a:rPr lang="en-GB" sz="2033">
                <a:solidFill>
                  <a:schemeClr val="dk1"/>
                </a:solidFill>
              </a:rPr>
              <a:t> and </a:t>
            </a:r>
            <a:r>
              <a:rPr b="1" lang="en-GB" sz="2033">
                <a:solidFill>
                  <a:schemeClr val="dk1"/>
                </a:solidFill>
              </a:rPr>
              <a:t>2019</a:t>
            </a:r>
            <a:r>
              <a:rPr lang="en-GB" sz="2033">
                <a:solidFill>
                  <a:schemeClr val="dk1"/>
                </a:solidFill>
              </a:rPr>
              <a:t> ingested</a:t>
            </a:r>
            <a:br>
              <a:rPr lang="en-GB" sz="2033">
                <a:solidFill>
                  <a:schemeClr val="dk1"/>
                </a:solidFill>
              </a:rPr>
            </a:br>
            <a:endParaRPr sz="2033">
              <a:solidFill>
                <a:schemeClr val="dk1"/>
              </a:solidFill>
            </a:endParaRPr>
          </a:p>
          <a:p>
            <a:pPr indent="-3383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33">
                <a:solidFill>
                  <a:schemeClr val="dk1"/>
                </a:solidFill>
              </a:rPr>
              <a:t>Files loaded into Databricks managed storage</a:t>
            </a:r>
            <a:br>
              <a:rPr lang="en-GB" sz="2033">
                <a:solidFill>
                  <a:schemeClr val="dk1"/>
                </a:solidFill>
              </a:rPr>
            </a:br>
            <a:endParaRPr sz="2033">
              <a:solidFill>
                <a:schemeClr val="dk1"/>
              </a:solidFill>
            </a:endParaRPr>
          </a:p>
          <a:p>
            <a:pPr indent="-3383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33">
                <a:solidFill>
                  <a:schemeClr val="dk1"/>
                </a:solidFill>
              </a:rPr>
              <a:t>Schema inferred using Spark</a:t>
            </a:r>
            <a:br>
              <a:rPr lang="en-GB" sz="2033">
                <a:solidFill>
                  <a:schemeClr val="dk1"/>
                </a:solidFill>
              </a:rPr>
            </a:br>
            <a:endParaRPr sz="2033">
              <a:solidFill>
                <a:schemeClr val="dk1"/>
              </a:solidFill>
            </a:endParaRPr>
          </a:p>
          <a:p>
            <a:pPr indent="-3383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33">
                <a:solidFill>
                  <a:schemeClr val="dk1"/>
                </a:solidFill>
              </a:rPr>
              <a:t>No transformation applied at this stage</a:t>
            </a:r>
            <a:br>
              <a:rPr lang="en-GB" sz="2033">
                <a:solidFill>
                  <a:schemeClr val="dk1"/>
                </a:solidFill>
              </a:rPr>
            </a:br>
            <a:endParaRPr sz="203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4084"/>
              <a:buFont typeface="Arial"/>
              <a:buNone/>
            </a:pPr>
            <a:r>
              <a:rPr b="1" lang="en-GB" sz="2033">
                <a:solidFill>
                  <a:schemeClr val="dk1"/>
                </a:solidFill>
              </a:rPr>
              <a:t>Purpose:</a:t>
            </a:r>
            <a:r>
              <a:rPr lang="en-GB" sz="2033">
                <a:solidFill>
                  <a:schemeClr val="dk1"/>
                </a:solidFill>
              </a:rPr>
              <a:t> Preserve raw data for traceability and reproducibility</a:t>
            </a:r>
            <a:endParaRPr sz="203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Cleaning &amp; Transformation (Silver Layer)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5810">
                <a:solidFill>
                  <a:schemeClr val="dk1"/>
                </a:solidFill>
              </a:rPr>
              <a:t>Performed key cleaning operations:</a:t>
            </a:r>
            <a:endParaRPr sz="5810">
              <a:solidFill>
                <a:schemeClr val="dk1"/>
              </a:solidFill>
            </a:endParaRPr>
          </a:p>
          <a:p>
            <a:pPr indent="-32083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5810">
                <a:solidFill>
                  <a:schemeClr val="dk1"/>
                </a:solidFill>
              </a:rPr>
              <a:t>Removed rows with:</a:t>
            </a:r>
            <a:br>
              <a:rPr lang="en-GB" sz="5810">
                <a:solidFill>
                  <a:schemeClr val="dk1"/>
                </a:solidFill>
              </a:rPr>
            </a:br>
            <a:endParaRPr sz="5810">
              <a:solidFill>
                <a:schemeClr val="dk1"/>
              </a:solidFill>
            </a:endParaRPr>
          </a:p>
          <a:p>
            <a:pPr indent="-32083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581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edu_name = 'All educational attainment populations'</a:t>
            </a:r>
            <a:br>
              <a:rPr lang="en-GB" sz="581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581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083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5810">
                <a:solidFill>
                  <a:schemeClr val="dk1"/>
                </a:solidFill>
              </a:rPr>
              <a:t>Missing mortality values (</a:t>
            </a:r>
            <a:r>
              <a:rPr lang="en-GB" sz="581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 IS NULL</a:t>
            </a:r>
            <a:r>
              <a:rPr lang="en-GB" sz="5810">
                <a:solidFill>
                  <a:schemeClr val="dk1"/>
                </a:solidFill>
              </a:rPr>
              <a:t>)</a:t>
            </a:r>
            <a:br>
              <a:rPr lang="en-GB" sz="5810">
                <a:solidFill>
                  <a:schemeClr val="dk1"/>
                </a:solidFill>
              </a:rPr>
            </a:br>
            <a:endParaRPr sz="5810">
              <a:solidFill>
                <a:schemeClr val="dk1"/>
              </a:solidFill>
            </a:endParaRPr>
          </a:p>
          <a:p>
            <a:pPr indent="-3208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5810">
                <a:solidFill>
                  <a:schemeClr val="dk1"/>
                </a:solidFill>
              </a:rPr>
              <a:t>Converted mortality metrics to numeric types</a:t>
            </a:r>
            <a:br>
              <a:rPr lang="en-GB" sz="5810">
                <a:solidFill>
                  <a:schemeClr val="dk1"/>
                </a:solidFill>
              </a:rPr>
            </a:br>
            <a:endParaRPr sz="5810">
              <a:solidFill>
                <a:schemeClr val="dk1"/>
              </a:solidFill>
            </a:endParaRPr>
          </a:p>
          <a:p>
            <a:pPr indent="-3208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5810">
                <a:solidFill>
                  <a:schemeClr val="dk1"/>
                </a:solidFill>
              </a:rPr>
              <a:t>Retained uncertainty bounds (</a:t>
            </a:r>
            <a:r>
              <a:rPr lang="en-GB" sz="581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lower</a:t>
            </a:r>
            <a:r>
              <a:rPr lang="en-GB" sz="5810">
                <a:solidFill>
                  <a:schemeClr val="dk1"/>
                </a:solidFill>
              </a:rPr>
              <a:t>, </a:t>
            </a:r>
            <a:r>
              <a:rPr lang="en-GB" sz="581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upper</a:t>
            </a:r>
            <a:r>
              <a:rPr lang="en-GB" sz="5810">
                <a:solidFill>
                  <a:schemeClr val="dk1"/>
                </a:solidFill>
              </a:rPr>
              <a:t>)</a:t>
            </a:r>
            <a:br>
              <a:rPr lang="en-GB" sz="5810">
                <a:solidFill>
                  <a:schemeClr val="dk1"/>
                </a:solidFill>
              </a:rPr>
            </a:br>
            <a:endParaRPr sz="5810">
              <a:solidFill>
                <a:schemeClr val="dk1"/>
              </a:solidFill>
            </a:endParaRPr>
          </a:p>
          <a:p>
            <a:pPr indent="-3208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5810">
                <a:solidFill>
                  <a:schemeClr val="dk1"/>
                </a:solidFill>
              </a:rPr>
              <a:t>Dropped non-essential columns:</a:t>
            </a:r>
            <a:br>
              <a:rPr lang="en-GB" sz="5810">
                <a:solidFill>
                  <a:schemeClr val="dk1"/>
                </a:solidFill>
              </a:rPr>
            </a:br>
            <a:endParaRPr sz="5810">
              <a:solidFill>
                <a:schemeClr val="dk1"/>
              </a:solidFill>
            </a:endParaRPr>
          </a:p>
          <a:p>
            <a:pPr indent="-32083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5810">
                <a:solidFill>
                  <a:schemeClr val="dk1"/>
                </a:solidFill>
              </a:rPr>
              <a:t>measure_id, location_id, sex_id, cause_id, metric_id, etc.</a:t>
            </a:r>
            <a:br>
              <a:rPr lang="en-GB" sz="5810">
                <a:solidFill>
                  <a:schemeClr val="dk1"/>
                </a:solidFill>
              </a:rPr>
            </a:br>
            <a:endParaRPr sz="581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5810">
                <a:solidFill>
                  <a:schemeClr val="dk1"/>
                </a:solidFill>
              </a:rPr>
              <a:t>Outcome:</a:t>
            </a:r>
            <a:r>
              <a:rPr lang="en-GB" sz="5810">
                <a:solidFill>
                  <a:schemeClr val="dk1"/>
                </a:solidFill>
              </a:rPr>
              <a:t> Clean, analysis-ready dataset</a:t>
            </a:r>
            <a:endParaRPr sz="581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Modelling (Gold Layer)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742">
                <a:solidFill>
                  <a:schemeClr val="dk1"/>
                </a:solidFill>
              </a:rPr>
              <a:t>Created analytical aggregates:</a:t>
            </a:r>
            <a:endParaRPr sz="4742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1854"/>
              <a:buChar char="●"/>
            </a:pPr>
            <a:r>
              <a:rPr lang="en-GB" sz="4742">
                <a:solidFill>
                  <a:schemeClr val="dk1"/>
                </a:solidFill>
              </a:rPr>
              <a:t>Mortality rate by:</a:t>
            </a:r>
            <a:br>
              <a:rPr lang="en-GB" sz="4742">
                <a:solidFill>
                  <a:schemeClr val="dk1"/>
                </a:solidFill>
              </a:rPr>
            </a:br>
            <a:endParaRPr sz="4742">
              <a:solidFill>
                <a:schemeClr val="dk1"/>
              </a:solidFill>
            </a:endParaRPr>
          </a:p>
          <a:p>
            <a:pPr indent="-2826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854"/>
              <a:buChar char="○"/>
            </a:pPr>
            <a:r>
              <a:rPr lang="en-GB" sz="4742">
                <a:solidFill>
                  <a:schemeClr val="dk1"/>
                </a:solidFill>
              </a:rPr>
              <a:t>Education level</a:t>
            </a:r>
            <a:br>
              <a:rPr lang="en-GB" sz="4742">
                <a:solidFill>
                  <a:schemeClr val="dk1"/>
                </a:solidFill>
              </a:rPr>
            </a:br>
            <a:endParaRPr sz="4742">
              <a:solidFill>
                <a:schemeClr val="dk1"/>
              </a:solidFill>
            </a:endParaRPr>
          </a:p>
          <a:p>
            <a:pPr indent="-2826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854"/>
              <a:buChar char="○"/>
            </a:pPr>
            <a:r>
              <a:rPr lang="en-GB" sz="4742">
                <a:solidFill>
                  <a:schemeClr val="dk1"/>
                </a:solidFill>
              </a:rPr>
              <a:t>Age group</a:t>
            </a:r>
            <a:br>
              <a:rPr lang="en-GB" sz="4742">
                <a:solidFill>
                  <a:schemeClr val="dk1"/>
                </a:solidFill>
              </a:rPr>
            </a:br>
            <a:endParaRPr sz="4742">
              <a:solidFill>
                <a:schemeClr val="dk1"/>
              </a:solidFill>
            </a:endParaRPr>
          </a:p>
          <a:p>
            <a:pPr indent="-2826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854"/>
              <a:buChar char="○"/>
            </a:pPr>
            <a:r>
              <a:rPr lang="en-GB" sz="4742">
                <a:solidFill>
                  <a:schemeClr val="dk1"/>
                </a:solidFill>
              </a:rPr>
              <a:t>Location</a:t>
            </a:r>
            <a:br>
              <a:rPr lang="en-GB" sz="4742">
                <a:solidFill>
                  <a:schemeClr val="dk1"/>
                </a:solidFill>
              </a:rPr>
            </a:br>
            <a:endParaRPr sz="4742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854"/>
              <a:buChar char="●"/>
            </a:pPr>
            <a:r>
              <a:rPr lang="en-GB" sz="4742">
                <a:solidFill>
                  <a:schemeClr val="dk1"/>
                </a:solidFill>
              </a:rPr>
              <a:t>Year-on-year comparison (2018 → 2019)</a:t>
            </a:r>
            <a:br>
              <a:rPr lang="en-GB" sz="4742">
                <a:solidFill>
                  <a:schemeClr val="dk1"/>
                </a:solidFill>
              </a:rPr>
            </a:br>
            <a:endParaRPr sz="4742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854"/>
              <a:buChar char="●"/>
            </a:pPr>
            <a:r>
              <a:rPr lang="en-GB" sz="4742">
                <a:solidFill>
                  <a:schemeClr val="dk1"/>
                </a:solidFill>
              </a:rPr>
              <a:t>County-level ranking of lowest mortality rates</a:t>
            </a:r>
            <a:br>
              <a:rPr lang="en-GB" sz="4742">
                <a:solidFill>
                  <a:schemeClr val="dk1"/>
                </a:solidFill>
              </a:rPr>
            </a:br>
            <a:endParaRPr sz="474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742">
                <a:solidFill>
                  <a:schemeClr val="dk1"/>
                </a:solidFill>
              </a:rPr>
              <a:t>Gold tables enabled:</a:t>
            </a:r>
            <a:endParaRPr sz="4742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1854"/>
              <a:buChar char="●"/>
            </a:pPr>
            <a:r>
              <a:rPr lang="en-GB" sz="4742">
                <a:solidFill>
                  <a:schemeClr val="dk1"/>
                </a:solidFill>
              </a:rPr>
              <a:t>Fast querying</a:t>
            </a:r>
            <a:br>
              <a:rPr lang="en-GB" sz="4742">
                <a:solidFill>
                  <a:schemeClr val="dk1"/>
                </a:solidFill>
              </a:rPr>
            </a:br>
            <a:endParaRPr sz="4742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854"/>
              <a:buChar char="●"/>
            </a:pPr>
            <a:r>
              <a:rPr lang="en-GB" sz="4742">
                <a:solidFill>
                  <a:schemeClr val="dk1"/>
                </a:solidFill>
              </a:rPr>
              <a:t>Clear visualisation</a:t>
            </a:r>
            <a:br>
              <a:rPr lang="en-GB" sz="4742">
                <a:solidFill>
                  <a:schemeClr val="dk1"/>
                </a:solidFill>
              </a:rPr>
            </a:br>
            <a:endParaRPr sz="4742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854"/>
              <a:buChar char="●"/>
            </a:pPr>
            <a:r>
              <a:rPr lang="en-GB" sz="4742">
                <a:solidFill>
                  <a:schemeClr val="dk1"/>
                </a:solidFill>
              </a:rPr>
              <a:t>Insight-driven analysis</a:t>
            </a:r>
            <a:endParaRPr sz="474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Scalability &amp; Technology Justification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6001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4">
                <a:solidFill>
                  <a:schemeClr val="dk1"/>
                </a:solidFill>
              </a:rPr>
              <a:t>Spark handles millions of records efficiently</a:t>
            </a:r>
            <a:br>
              <a:rPr lang="en-GB" sz="2434">
                <a:solidFill>
                  <a:schemeClr val="dk1"/>
                </a:solidFill>
              </a:rPr>
            </a:br>
            <a:endParaRPr sz="2434">
              <a:solidFill>
                <a:schemeClr val="dk1"/>
              </a:solidFill>
            </a:endParaRPr>
          </a:p>
          <a:p>
            <a:pPr indent="-36001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4">
                <a:solidFill>
                  <a:schemeClr val="dk1"/>
                </a:solidFill>
              </a:rPr>
              <a:t>Queries execute in parallel across nodes</a:t>
            </a:r>
            <a:br>
              <a:rPr lang="en-GB" sz="2434">
                <a:solidFill>
                  <a:schemeClr val="dk1"/>
                </a:solidFill>
              </a:rPr>
            </a:br>
            <a:endParaRPr sz="2434">
              <a:solidFill>
                <a:schemeClr val="dk1"/>
              </a:solidFill>
            </a:endParaRPr>
          </a:p>
          <a:p>
            <a:pPr indent="-36001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4">
                <a:solidFill>
                  <a:schemeClr val="dk1"/>
                </a:solidFill>
              </a:rPr>
              <a:t>Easily extensible to additional years or countries</a:t>
            </a:r>
            <a:br>
              <a:rPr lang="en-GB" sz="2434">
                <a:solidFill>
                  <a:schemeClr val="dk1"/>
                </a:solidFill>
              </a:rPr>
            </a:br>
            <a:endParaRPr sz="2434">
              <a:solidFill>
                <a:schemeClr val="dk1"/>
              </a:solidFill>
            </a:endParaRPr>
          </a:p>
          <a:p>
            <a:pPr indent="-36001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4">
                <a:solidFill>
                  <a:schemeClr val="dk1"/>
                </a:solidFill>
              </a:rPr>
              <a:t>Alternative solutions (e.g., RDBMS) lack scalability and flexibility for this task</a:t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253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Insight 1: Education Gradient in Mortality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Key Observation: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Mortality rates decrease consistently with higher educational attainment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Individuals with </a:t>
            </a:r>
            <a:r>
              <a:rPr b="1" lang="en-GB" sz="1100">
                <a:solidFill>
                  <a:schemeClr val="dk1"/>
                </a:solidFill>
              </a:rPr>
              <a:t>less than high school education</a:t>
            </a:r>
            <a:r>
              <a:rPr lang="en-GB" sz="1100">
                <a:solidFill>
                  <a:schemeClr val="dk1"/>
                </a:solidFill>
              </a:rPr>
              <a:t> experience the highest mortality rates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College graduates show the lowest mortality rates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Interpretation: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Strong inverse relationship between education and mortality</a:t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225" y="3551050"/>
            <a:ext cx="7658724" cy="159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Insight 2: Age × Education Interaction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572700"/>
            <a:ext cx="8520600" cy="39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Key Observation: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Mortality increases sharply with age across all education levels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Education gradient persists at older ages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Largest disparities observed in </a:t>
            </a:r>
            <a:r>
              <a:rPr b="1" lang="en-GB" sz="1300">
                <a:solidFill>
                  <a:schemeClr val="dk1"/>
                </a:solidFill>
              </a:rPr>
              <a:t>75+ age groups</a:t>
            </a:r>
            <a:br>
              <a:rPr b="1" lang="en-GB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Interpretation: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Education has a protective effect even later in life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1200"/>
            <a:ext cx="9143998" cy="180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0"/>
            <a:ext cx="85206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Insight 3: Geographic Inequality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602400"/>
            <a:ext cx="85206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Key Observation: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Certain counties consistently show lower mortality rates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Many low-mortality counties correspond to higher education levels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Geographic clustering of favourable outcomes is evident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Interpretation: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Location and education interact to shape health outcomes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00" y="3181200"/>
            <a:ext cx="4263400" cy="196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0"/>
            <a:ext cx="85206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Insight 4: Change Between 2018 and 2019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602400"/>
            <a:ext cx="8520600" cy="3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Key Observation: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All education groups show slight changes in mortality rates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The largest magnitude of change occurs in the </a:t>
            </a:r>
            <a:r>
              <a:rPr b="1" lang="en-GB" sz="1400">
                <a:solidFill>
                  <a:schemeClr val="dk1"/>
                </a:solidFill>
              </a:rPr>
              <a:t>lowest education group</a:t>
            </a:r>
            <a:br>
              <a:rPr b="1" lang="en-GB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Changes are relatively small but consistent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Interpretation: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Mortality improvements or declines are uneven across education levels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67050"/>
            <a:ext cx="9144001" cy="177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Video Demonstration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6" title="BigDataPresentat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1975" y="101772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Concluding Comments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564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6742">
                <a:solidFill>
                  <a:schemeClr val="dk1"/>
                </a:solidFill>
              </a:rPr>
              <a:t>Educational attainment shows a strong and persistent relationship with mortality</a:t>
            </a:r>
            <a:br>
              <a:rPr lang="en-GB" sz="6742">
                <a:solidFill>
                  <a:schemeClr val="dk1"/>
                </a:solidFill>
              </a:rPr>
            </a:br>
            <a:endParaRPr sz="6742">
              <a:solidFill>
                <a:schemeClr val="dk1"/>
              </a:solidFill>
            </a:endParaRPr>
          </a:p>
          <a:p>
            <a:pPr indent="-33564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6742">
                <a:solidFill>
                  <a:schemeClr val="dk1"/>
                </a:solidFill>
              </a:rPr>
              <a:t>Age amplifies existing education-based disparities</a:t>
            </a:r>
            <a:br>
              <a:rPr lang="en-GB" sz="6742">
                <a:solidFill>
                  <a:schemeClr val="dk1"/>
                </a:solidFill>
              </a:rPr>
            </a:br>
            <a:endParaRPr sz="6742">
              <a:solidFill>
                <a:schemeClr val="dk1"/>
              </a:solidFill>
            </a:endParaRPr>
          </a:p>
          <a:p>
            <a:pPr indent="-33564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6742">
                <a:solidFill>
                  <a:schemeClr val="dk1"/>
                </a:solidFill>
              </a:rPr>
              <a:t>Geographic location further influences mortality outcomes</a:t>
            </a:r>
            <a:br>
              <a:rPr lang="en-GB" sz="6742">
                <a:solidFill>
                  <a:schemeClr val="dk1"/>
                </a:solidFill>
              </a:rPr>
            </a:br>
            <a:endParaRPr sz="6742">
              <a:solidFill>
                <a:schemeClr val="dk1"/>
              </a:solidFill>
            </a:endParaRPr>
          </a:p>
          <a:p>
            <a:pPr indent="-33564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6742">
                <a:solidFill>
                  <a:schemeClr val="dk1"/>
                </a:solidFill>
              </a:rPr>
              <a:t>Azure Databricks proved effective for scalable health data analysis</a:t>
            </a:r>
            <a:br>
              <a:rPr lang="en-GB" sz="6742">
                <a:solidFill>
                  <a:schemeClr val="dk1"/>
                </a:solidFill>
              </a:rPr>
            </a:br>
            <a:endParaRPr sz="674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6742">
                <a:solidFill>
                  <a:schemeClr val="dk1"/>
                </a:solidFill>
              </a:rPr>
              <a:t>Limitations &amp; Future Work:</a:t>
            </a:r>
            <a:endParaRPr b="1" sz="6742">
              <a:solidFill>
                <a:schemeClr val="dk1"/>
              </a:solidFill>
            </a:endParaRPr>
          </a:p>
          <a:p>
            <a:pPr indent="-33564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6742">
                <a:solidFill>
                  <a:schemeClr val="dk1"/>
                </a:solidFill>
              </a:rPr>
              <a:t>Extend analysis to additional years</a:t>
            </a:r>
            <a:br>
              <a:rPr lang="en-GB" sz="6742">
                <a:solidFill>
                  <a:schemeClr val="dk1"/>
                </a:solidFill>
              </a:rPr>
            </a:br>
            <a:endParaRPr sz="6742">
              <a:solidFill>
                <a:schemeClr val="dk1"/>
              </a:solidFill>
            </a:endParaRPr>
          </a:p>
          <a:p>
            <a:pPr indent="-33564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6742">
                <a:solidFill>
                  <a:schemeClr val="dk1"/>
                </a:solidFill>
              </a:rPr>
              <a:t>Include socioeconomic variables such as income</a:t>
            </a:r>
            <a:br>
              <a:rPr lang="en-GB" sz="6742">
                <a:solidFill>
                  <a:schemeClr val="dk1"/>
                </a:solidFill>
              </a:rPr>
            </a:br>
            <a:endParaRPr sz="6742">
              <a:solidFill>
                <a:schemeClr val="dk1"/>
              </a:solidFill>
            </a:endParaRPr>
          </a:p>
          <a:p>
            <a:pPr indent="-33564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6742">
                <a:solidFill>
                  <a:schemeClr val="dk1"/>
                </a:solidFill>
              </a:rPr>
              <a:t>Apply predictive modelling for future mortality trends</a:t>
            </a:r>
            <a:endParaRPr sz="674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178"/>
              <a:buFont typeface="Arial"/>
              <a:buNone/>
            </a:pPr>
            <a:r>
              <a:t/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 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689">
                <a:solidFill>
                  <a:schemeClr val="dk1"/>
                </a:solidFill>
              </a:rPr>
              <a:t>[1] Institute for Health Metrics and Evaluation (IHME), </a:t>
            </a:r>
            <a:r>
              <a:rPr i="1" lang="en-GB" sz="4689">
                <a:solidFill>
                  <a:schemeClr val="dk1"/>
                </a:solidFill>
              </a:rPr>
              <a:t>United States Mortality by Education and County, 2000–2019</a:t>
            </a:r>
            <a:r>
              <a:rPr lang="en-GB" sz="4689">
                <a:solidFill>
                  <a:schemeClr val="dk1"/>
                </a:solidFill>
              </a:rPr>
              <a:t>, Public Use Dataset, 2023. [Online]. Available:</a:t>
            </a:r>
            <a:r>
              <a:rPr lang="en-GB" sz="4689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4689" u="sng">
                <a:solidFill>
                  <a:schemeClr val="hlink"/>
                </a:solidFill>
                <a:hlinkClick r:id="rId4"/>
              </a:rPr>
              <a:t>https://ghdx.healthdata.org</a:t>
            </a:r>
            <a:br>
              <a:rPr lang="en-GB" sz="4689" u="sng">
                <a:solidFill>
                  <a:schemeClr val="hlink"/>
                </a:solidFill>
                <a:hlinkClick r:id="rId5"/>
              </a:rPr>
            </a:br>
            <a:endParaRPr sz="468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689">
                <a:solidFill>
                  <a:schemeClr val="dk1"/>
                </a:solidFill>
              </a:rPr>
              <a:t>[2] Microsoft, </a:t>
            </a:r>
            <a:r>
              <a:rPr i="1" lang="en-GB" sz="4689">
                <a:solidFill>
                  <a:schemeClr val="dk1"/>
                </a:solidFill>
              </a:rPr>
              <a:t>Azure Databricks Documentation</a:t>
            </a:r>
            <a:r>
              <a:rPr lang="en-GB" sz="4689">
                <a:solidFill>
                  <a:schemeClr val="dk1"/>
                </a:solidFill>
              </a:rPr>
              <a:t>, Microsoft Learn, 2025. [Online]. Available:</a:t>
            </a:r>
            <a:r>
              <a:rPr lang="en-GB" sz="4689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4689" u="sng">
                <a:solidFill>
                  <a:schemeClr val="hlink"/>
                </a:solidFill>
                <a:hlinkClick r:id="rId7"/>
              </a:rPr>
              <a:t>https://learn.microsoft.com/azure/databricks</a:t>
            </a:r>
            <a:br>
              <a:rPr lang="en-GB" sz="4689" u="sng">
                <a:solidFill>
                  <a:schemeClr val="hlink"/>
                </a:solidFill>
                <a:hlinkClick r:id="rId8"/>
              </a:rPr>
            </a:br>
            <a:endParaRPr sz="468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689">
                <a:solidFill>
                  <a:schemeClr val="dk1"/>
                </a:solidFill>
              </a:rPr>
              <a:t>[3] Apache Software Foundation, </a:t>
            </a:r>
            <a:r>
              <a:rPr i="1" lang="en-GB" sz="4689">
                <a:solidFill>
                  <a:schemeClr val="dk1"/>
                </a:solidFill>
              </a:rPr>
              <a:t>Apache Spark SQL, DataFrames and Datasets Guide</a:t>
            </a:r>
            <a:r>
              <a:rPr lang="en-GB" sz="4689">
                <a:solidFill>
                  <a:schemeClr val="dk1"/>
                </a:solidFill>
              </a:rPr>
              <a:t>, 2025. [Online]. Available:</a:t>
            </a:r>
            <a:r>
              <a:rPr lang="en-GB" sz="4689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4689" u="sng">
                <a:solidFill>
                  <a:schemeClr val="hlink"/>
                </a:solidFill>
                <a:hlinkClick r:id="rId10"/>
              </a:rPr>
              <a:t>https://spark.apache.org/sql</a:t>
            </a:r>
            <a:br>
              <a:rPr lang="en-GB" sz="4689" u="sng">
                <a:solidFill>
                  <a:schemeClr val="hlink"/>
                </a:solidFill>
                <a:hlinkClick r:id="rId11"/>
              </a:rPr>
            </a:br>
            <a:endParaRPr sz="468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689">
                <a:solidFill>
                  <a:schemeClr val="dk1"/>
                </a:solidFill>
              </a:rPr>
              <a:t>[4] M. Marmot et al., “Social determinants of health inequalities,” </a:t>
            </a:r>
            <a:r>
              <a:rPr i="1" lang="en-GB" sz="4689">
                <a:solidFill>
                  <a:schemeClr val="dk1"/>
                </a:solidFill>
              </a:rPr>
              <a:t>The Lancet</a:t>
            </a:r>
            <a:r>
              <a:rPr lang="en-GB" sz="4689">
                <a:solidFill>
                  <a:schemeClr val="dk1"/>
                </a:solidFill>
              </a:rPr>
              <a:t>, vol. 365, no. 9464, pp. 1099–1104, 2005, doi: 10.1016/S0140-6736(05)71146-6.</a:t>
            </a:r>
            <a:endParaRPr sz="468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4689">
                <a:solidFill>
                  <a:schemeClr val="dk1"/>
                </a:solidFill>
              </a:rPr>
              <a:t>[5] World Health Organization, </a:t>
            </a:r>
            <a:r>
              <a:rPr i="1" lang="en-GB" sz="4689">
                <a:solidFill>
                  <a:schemeClr val="dk1"/>
                </a:solidFill>
              </a:rPr>
              <a:t>Social Determinants of Health</a:t>
            </a:r>
            <a:r>
              <a:rPr lang="en-GB" sz="4689">
                <a:solidFill>
                  <a:schemeClr val="dk1"/>
                </a:solidFill>
              </a:rPr>
              <a:t>, WHO, 2023. [Online]. Available:</a:t>
            </a:r>
            <a:r>
              <a:rPr lang="en-GB" sz="4689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4689" u="sng">
                <a:solidFill>
                  <a:schemeClr val="hlink"/>
                </a:solidFill>
                <a:hlinkClick r:id="rId13"/>
              </a:rPr>
              <a:t>https://www.who.int/teams/social-determinants-of-health</a:t>
            </a:r>
            <a:br>
              <a:rPr lang="en-GB" sz="4689" u="sng">
                <a:solidFill>
                  <a:schemeClr val="hlink"/>
                </a:solidFill>
                <a:hlinkClick r:id="rId14"/>
              </a:rPr>
            </a:br>
            <a:endParaRPr sz="538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